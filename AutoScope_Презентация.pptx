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50876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1D1D1F"/>
                </a:solidFill>
                <a:latin typeface="Arial"/>
              </a:rPr>
              <a:t>AutoScope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286000"/>
            <a:ext cx="6766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0071E3"/>
                </a:solidFill>
                <a:latin typeface="Arial"/>
              </a:rPr>
              <a:t>Цифровая история автомобиля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97180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646469"/>
                </a:solidFill>
                <a:latin typeface="Arial"/>
              </a:rPr>
              <a:t>Презентация интерфейса и краткий сценарий использования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321040" y="1325880"/>
            <a:ext cx="2834640" cy="3566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1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49640" y="1527048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D1D1F"/>
                </a:solidFill>
                <a:latin typeface="Arial"/>
              </a:rPr>
              <a:t>Что хранит AutoScope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49640" y="1984248"/>
            <a:ext cx="23774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6469"/>
                </a:solidFill>
                <a:latin typeface="Arial"/>
              </a:rPr>
              <a:t>Автомобиль
История обслуживания
Топливо
Задачи
Расходы
Аналитика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0" y="6473952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46469"/>
                </a:solidFill>
                <a:latin typeface="Arial"/>
              </a:rPr>
              <a:t>AutoScope  •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D1D1F"/>
                </a:solidFill>
                <a:latin typeface="Arial"/>
              </a:rPr>
              <a:t>Главная идея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5156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46469"/>
                </a:solidFill>
                <a:latin typeface="Arial"/>
              </a:rPr>
              <a:t>Одна точка для всей истории эксплуатации автомобиля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91640"/>
            <a:ext cx="3429000" cy="3429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1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92808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D1D1F"/>
                </a:solidFill>
                <a:latin typeface="Arial"/>
              </a:rPr>
              <a:t>Автомобиль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50008"/>
            <a:ext cx="297180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6469"/>
                </a:solidFill>
                <a:latin typeface="Arial"/>
              </a:rPr>
              <a:t>Профиль машины, пробег и цена покупки.
Данные можно изменить в любой момент.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91640"/>
            <a:ext cx="3429000" cy="3429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1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892808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D1D1F"/>
                </a:solidFill>
                <a:latin typeface="Arial"/>
              </a:rPr>
              <a:t>История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720" y="2350008"/>
            <a:ext cx="297180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6469"/>
                </a:solidFill>
                <a:latin typeface="Arial"/>
              </a:rPr>
              <a:t>Обслуживание, ремонт, детали, расходы, фотографии и документы.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1691640"/>
            <a:ext cx="3429000" cy="3429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1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1892808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D1D1F"/>
                </a:solidFill>
                <a:latin typeface="Arial"/>
              </a:rPr>
              <a:t>Аналитика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2350008"/>
            <a:ext cx="297180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6469"/>
                </a:solidFill>
                <a:latin typeface="Arial"/>
              </a:rPr>
              <a:t>Расходы, топливо, статистика и ориентиры на основе собственной истории.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62356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D1D1F"/>
                </a:solidFill>
                <a:latin typeface="Arial"/>
              </a:rPr>
              <a:t>Главный принцип: пользователь постепенно формирует цифровой журнал конкретного автомобиля.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0" y="6473952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46469"/>
                </a:solidFill>
                <a:latin typeface="Arial"/>
              </a:rPr>
              <a:t>AutoScope  •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D1D1F"/>
                </a:solidFill>
                <a:latin typeface="Arial"/>
              </a:rPr>
              <a:t>1. Добавление автомобиля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5156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46469"/>
                </a:solidFill>
                <a:latin typeface="Arial"/>
              </a:rPr>
              <a:t>При первом запуске приложение начинается с пустого профиля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00200"/>
            <a:ext cx="5212080" cy="3977639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1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01368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D1D1F"/>
                </a:solidFill>
                <a:latin typeface="Arial"/>
              </a:rPr>
              <a:t>Заполнить профиль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258568"/>
            <a:ext cx="4754880" cy="3154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6469"/>
                </a:solidFill>
                <a:latin typeface="Arial"/>
              </a:rPr>
              <a:t>Марка
Модель
Год выпуска
Двигатель
Текущий пробег
Цена покупки, ₽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00200"/>
            <a:ext cx="5212080" cy="3977639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1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01368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D1D1F"/>
                </a:solidFill>
                <a:latin typeface="Arial"/>
              </a:rPr>
              <a:t>После сохранения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258568"/>
            <a:ext cx="4754880" cy="3154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6469"/>
                </a:solidFill>
                <a:latin typeface="Arial"/>
              </a:rPr>
              <a:t>Автомобиль появляется на главном экране.
Профиль можно открыть и изменить позже.
Данные сохраняются локально в браузере.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5897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071E3"/>
                </a:solidFill>
                <a:latin typeface="Arial"/>
              </a:rPr>
              <a:t>Открыть → добавить автомобиль → заполнить поля → сохранить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473952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46469"/>
                </a:solidFill>
                <a:latin typeface="Arial"/>
              </a:rPr>
              <a:t>AutoScope  •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D1D1F"/>
                </a:solidFill>
                <a:latin typeface="Arial"/>
              </a:rPr>
              <a:t>2. Обзор автомобиля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5156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46469"/>
                </a:solidFill>
                <a:latin typeface="Arial"/>
              </a:rPr>
              <a:t>Dashboard показывает основные показатели без лишних переходов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554480"/>
            <a:ext cx="5257800" cy="1508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1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55648"/>
            <a:ext cx="4800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D1D1F"/>
                </a:solidFill>
                <a:latin typeface="Arial"/>
              </a:rPr>
              <a:t>Стоимость владения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12848"/>
            <a:ext cx="4800600" cy="685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6469"/>
                </a:solidFill>
                <a:latin typeface="Arial"/>
              </a:rPr>
              <a:t>покупка + эксплуатационные расходы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554480"/>
            <a:ext cx="5257800" cy="1508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1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1755648"/>
            <a:ext cx="4800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D1D1F"/>
                </a:solidFill>
                <a:latin typeface="Arial"/>
              </a:rPr>
              <a:t>Эксплуатационные расходы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2212848"/>
            <a:ext cx="4800600" cy="685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6469"/>
                </a:solidFill>
                <a:latin typeface="Arial"/>
              </a:rPr>
              <a:t>обслуживание + топливо + другие траты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429000"/>
            <a:ext cx="5257800" cy="1508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1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630168"/>
            <a:ext cx="4800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D1D1F"/>
                </a:solidFill>
                <a:latin typeface="Arial"/>
              </a:rPr>
              <a:t>Расход за месяц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087368"/>
            <a:ext cx="4800600" cy="685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6469"/>
                </a:solidFill>
                <a:latin typeface="Arial"/>
              </a:rPr>
              <a:t>текущий календарный месяц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3429000"/>
            <a:ext cx="5257800" cy="1508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1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3630168"/>
            <a:ext cx="4800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D1D1F"/>
                </a:solidFill>
                <a:latin typeface="Arial"/>
              </a:rPr>
              <a:t>Средний расход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4087368"/>
            <a:ext cx="4800600" cy="685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6469"/>
                </a:solidFill>
                <a:latin typeface="Arial"/>
              </a:rPr>
              <a:t>л / 100 км при достаточном количестве данных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5394960"/>
            <a:ext cx="10835640" cy="640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1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596128"/>
            <a:ext cx="10378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D1D1F"/>
                </a:solidFill>
                <a:latin typeface="Arial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6053328"/>
            <a:ext cx="10378440" cy="-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6469"/>
                </a:solidFill>
                <a:latin typeface="Arial"/>
              </a:rPr>
              <a:t>Последние события помогают быстро увидеть, что происходило с автомобилем недавно.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66960" y="6473952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46469"/>
                </a:solidFill>
                <a:latin typeface="Arial"/>
              </a:rPr>
              <a:t>AutoScope  •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D1D1F"/>
                </a:solidFill>
                <a:latin typeface="Arial"/>
              </a:rPr>
              <a:t>3. История автомобиля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5156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46469"/>
                </a:solidFill>
                <a:latin typeface="Arial"/>
              </a:rPr>
              <a:t>Единый журнал всех работ и расходов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554480"/>
            <a:ext cx="3429000" cy="4114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1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55648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D1D1F"/>
                </a:solidFill>
                <a:latin typeface="Arial"/>
              </a:rPr>
              <a:t>Новая запись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12848"/>
            <a:ext cx="29718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6469"/>
                </a:solidFill>
                <a:latin typeface="Arial"/>
              </a:rPr>
              <a:t>Название работы
Дата
Пробег
Стоимость
Описание
Фото / документы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554480"/>
            <a:ext cx="3429000" cy="4114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1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755648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D1D1F"/>
                </a:solidFill>
                <a:latin typeface="Arial"/>
              </a:rPr>
              <a:t>Работа с журналом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720" y="2212848"/>
            <a:ext cx="29718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6469"/>
                </a:solidFill>
                <a:latin typeface="Arial"/>
              </a:rPr>
              <a:t>Поиск по названию и описанию.
Редактирование и удаление записей.
Записи идут от новых к старым.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1554480"/>
            <a:ext cx="3429000" cy="4114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1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1755648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D1D1F"/>
                </a:solidFill>
                <a:latin typeface="Arial"/>
              </a:rPr>
              <a:t>Статистика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2212848"/>
            <a:ext cx="29718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6469"/>
                </a:solidFill>
                <a:latin typeface="Arial"/>
              </a:rPr>
              <a:t>Количество записей
Общая сумма
Средняя стоимость записи
Вложения открываются из самой записи.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6960" y="6473952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46469"/>
                </a:solidFill>
                <a:latin typeface="Arial"/>
              </a:rPr>
              <a:t>AutoScope  •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D1D1F"/>
                </a:solidFill>
                <a:latin typeface="Arial"/>
              </a:rPr>
              <a:t>4. Топливо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5156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46469"/>
                </a:solidFill>
                <a:latin typeface="Arial"/>
              </a:rPr>
              <a:t>Отдельный журнал заправок и расходов на топливо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00200"/>
            <a:ext cx="5074920" cy="3977639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1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01368"/>
            <a:ext cx="4617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D1D1F"/>
                </a:solidFill>
                <a:latin typeface="Arial"/>
              </a:rPr>
              <a:t>Добавление заправки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58568"/>
            <a:ext cx="4617720" cy="3154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6469"/>
                </a:solidFill>
                <a:latin typeface="Arial"/>
              </a:rPr>
              <a:t>Дата
Пробег
Литры
Цена за литр
Итоговая стоимость рассчитывается автоматически.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80760" y="1600200"/>
            <a:ext cx="5440680" cy="3977639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1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1801368"/>
            <a:ext cx="4983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D1D1F"/>
                </a:solidFill>
                <a:latin typeface="Arial"/>
              </a:rPr>
              <a:t>Статистика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258568"/>
            <a:ext cx="4983480" cy="3154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6469"/>
                </a:solidFill>
                <a:latin typeface="Arial"/>
              </a:rPr>
              <a:t>Всего потрачено
Всего залито
Средняя цена топлива
Количество заправок
Расход показывается при достаточном количестве корректных данных.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85216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071E3"/>
                </a:solidFill>
                <a:latin typeface="Arial"/>
              </a:rPr>
              <a:t>Для более точного расчёта расхода удобно отмечать заправки «до полного».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473952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46469"/>
                </a:solidFill>
                <a:latin typeface="Arial"/>
              </a:rPr>
              <a:t>AutoScope  •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D1D1F"/>
                </a:solidFill>
                <a:latin typeface="Arial"/>
              </a:rPr>
              <a:t>5. Задачи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5156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46469"/>
                </a:solidFill>
                <a:latin typeface="Arial"/>
              </a:rPr>
              <a:t>Планирование будущего обслуживания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00200"/>
            <a:ext cx="3429000" cy="3977639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1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01368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D1D1F"/>
                </a:solidFill>
                <a:latin typeface="Arial"/>
              </a:rPr>
              <a:t>Активные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58568"/>
            <a:ext cx="2971800" cy="3154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6469"/>
                </a:solidFill>
                <a:latin typeface="Arial"/>
              </a:rPr>
              <a:t>Замена масла
Диагностика подвески
Сезонная замена шин
У задачи может быть дата и плановый пробег.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00200"/>
            <a:ext cx="3429000" cy="3977639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1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801368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D1D1F"/>
                </a:solidFill>
                <a:latin typeface="Arial"/>
              </a:rPr>
              <a:t>Действия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720" y="2258568"/>
            <a:ext cx="2971800" cy="3154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6469"/>
                </a:solidFill>
                <a:latin typeface="Arial"/>
              </a:rPr>
              <a:t>Добавить
Изменить
Выполнить
Отменить выполнение
Удалить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1600200"/>
            <a:ext cx="3429000" cy="3977639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1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1801368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D1D1F"/>
                </a:solidFill>
                <a:latin typeface="Arial"/>
              </a:rPr>
              <a:t>Результат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2258568"/>
            <a:ext cx="2971800" cy="3154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6469"/>
                </a:solidFill>
                <a:latin typeface="Arial"/>
              </a:rPr>
              <a:t>После выполнения задача переносится в завершённые.
Так формируется список ближайших и уже выполненных работ.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6960" y="6473952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46469"/>
                </a:solidFill>
                <a:latin typeface="Arial"/>
              </a:rPr>
              <a:t>AutoScope  •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D1D1F"/>
                </a:solidFill>
                <a:latin typeface="Arial"/>
              </a:rPr>
              <a:t>6. Аналитика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5156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46469"/>
                </a:solidFill>
                <a:latin typeface="Arial"/>
              </a:rPr>
              <a:t>Переход от отдельных записей к общей картине расходов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554480"/>
            <a:ext cx="3429000" cy="4114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1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55648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D1D1F"/>
                </a:solidFill>
                <a:latin typeface="Arial"/>
              </a:rPr>
              <a:t>Стоимость владения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12848"/>
            <a:ext cx="29718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6469"/>
                </a:solidFill>
                <a:latin typeface="Arial"/>
              </a:rPr>
              <a:t>Цена покупки
+
обслуживание
+
топливо
+
другие расходы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554480"/>
            <a:ext cx="3429000" cy="4114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1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755648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D1D1F"/>
                </a:solidFill>
                <a:latin typeface="Arial"/>
              </a:rPr>
              <a:t>Расходы по месяцам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720" y="2212848"/>
            <a:ext cx="29718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6469"/>
                </a:solidFill>
                <a:latin typeface="Arial"/>
              </a:rPr>
              <a:t>График показывает динамику трат.
Можно быстро увидеть месяцы с повышенными расходами.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1554480"/>
            <a:ext cx="3429000" cy="4114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1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1755648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D1D1F"/>
                </a:solidFill>
                <a:latin typeface="Arial"/>
              </a:rPr>
              <a:t>Структура расходов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2212848"/>
            <a:ext cx="29718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6469"/>
                </a:solidFill>
                <a:latin typeface="Arial"/>
              </a:rPr>
              <a:t>Обслуживание
Топливо
Другие траты
Доли рассчитываются автоматически.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6960" y="6473952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46469"/>
                </a:solidFill>
                <a:latin typeface="Arial"/>
              </a:rPr>
              <a:t>AutoScope  •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D1D1F"/>
                </a:solidFill>
                <a:latin typeface="Arial"/>
              </a:rPr>
              <a:t>7. Повторяющиеся работы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5156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46469"/>
                </a:solidFill>
                <a:latin typeface="Arial"/>
              </a:rPr>
              <a:t>Статистический ориентир на основе собственной истории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00200"/>
            <a:ext cx="5074920" cy="3977639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1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01368"/>
            <a:ext cx="4617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D1D1F"/>
                </a:solidFill>
                <a:latin typeface="Arial"/>
              </a:rPr>
              <a:t>Как это работает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58568"/>
            <a:ext cx="4617720" cy="3154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6469"/>
                </a:solidFill>
                <a:latin typeface="Arial"/>
              </a:rPr>
              <a:t>Если одна и та же работа встречалась несколько раз, приложение сравнивает даты и стоимость записей.
Можно получить средний интервал и среднюю стоимость.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80760" y="1600200"/>
            <a:ext cx="5440680" cy="3977639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1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1801368"/>
            <a:ext cx="4983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D1D1F"/>
                </a:solidFill>
                <a:latin typeface="Arial"/>
              </a:rPr>
              <a:t>Пример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258568"/>
            <a:ext cx="4983480" cy="3154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6469"/>
                </a:solidFill>
                <a:latin typeface="Arial"/>
              </a:rPr>
              <a:t>Замена масла × 3
Средний интервал: ~120 дней
Средняя стоимость: ~7 333 ₽
Следующая дата — ориентир, а не прогноз неисправности.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73952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46469"/>
                </a:solidFill>
                <a:latin typeface="Arial"/>
              </a:rPr>
              <a:t>AutoScope  •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D1D1F"/>
                </a:solidFill>
                <a:latin typeface="Arial"/>
              </a:rPr>
              <a:t>8. Фото и документы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5156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46469"/>
                </a:solidFill>
                <a:latin typeface="Arial"/>
              </a:rPr>
              <a:t>Вложения остаются частью истории конкретной работы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00200"/>
            <a:ext cx="5074920" cy="3977639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1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01368"/>
            <a:ext cx="4617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D1D1F"/>
                </a:solidFill>
                <a:latin typeface="Arial"/>
              </a:rPr>
              <a:t>Что можно прикрепить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58568"/>
            <a:ext cx="4617720" cy="3154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6469"/>
                </a:solidFill>
                <a:latin typeface="Arial"/>
              </a:rPr>
              <a:t>Фотографии автомобиля
Фото детали
Чек
PDF
Другой документ
Файлы обрабатываются в браузере.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80760" y="1600200"/>
            <a:ext cx="5440680" cy="3977639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1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1801368"/>
            <a:ext cx="4983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D1D1F"/>
                </a:solidFill>
                <a:latin typeface="Arial"/>
              </a:rPr>
              <a:t>Просмотр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258568"/>
            <a:ext cx="4983480" cy="3154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6469"/>
                </a:solidFill>
                <a:latin typeface="Arial"/>
              </a:rPr>
              <a:t>Изображение можно открыть в увеличенном виде.
PDF открывается для просмотра.
Другие файлы доступны для дальнейшего использования.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73952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46469"/>
                </a:solidFill>
                <a:latin typeface="Arial"/>
              </a:rPr>
              <a:t>AutoScope  •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D1D1F"/>
                </a:solidFill>
                <a:latin typeface="Arial"/>
              </a:rPr>
              <a:t>9. Интерфейс и адаптивность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5156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46469"/>
                </a:solidFill>
                <a:latin typeface="Arial"/>
              </a:rPr>
              <a:t>Минималистичный automotive UI с дневной и ночной темой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00200"/>
            <a:ext cx="3429000" cy="3977639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1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01368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D1D1F"/>
                </a:solidFill>
                <a:latin typeface="Arial"/>
              </a:rPr>
              <a:t>Дневная тема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58568"/>
            <a:ext cx="2971800" cy="3154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6469"/>
                </a:solidFill>
                <a:latin typeface="Arial"/>
              </a:rPr>
              <a:t>Светлый фон
Белые карточки
Синий акцент
Читаемая типографика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00200"/>
            <a:ext cx="3429000" cy="3977639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1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801368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D1D1F"/>
                </a:solidFill>
                <a:latin typeface="Arial"/>
              </a:rPr>
              <a:t>Ночная тема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720" y="2258568"/>
            <a:ext cx="2971800" cy="3154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6469"/>
                </a:solidFill>
                <a:latin typeface="Arial"/>
              </a:rPr>
              <a:t>Тёмный фон
Тёмные карточки
Синий акцент
Выбранная тема сохраняется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1600200"/>
            <a:ext cx="3429000" cy="3977639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1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1801368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D1D1F"/>
                </a:solidFill>
                <a:latin typeface="Arial"/>
              </a:rPr>
              <a:t>Адаптивность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2258568"/>
            <a:ext cx="2971800" cy="3154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6469"/>
                </a:solidFill>
                <a:latin typeface="Arial"/>
              </a:rPr>
              <a:t>Desktop
Laptop
Tablet
Mobile
Карточки и формы перестраиваются под ширину экрана.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6960" y="6473952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46469"/>
                </a:solidFill>
                <a:latin typeface="Arial"/>
              </a:rPr>
              <a:t>AutoScope  •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D1D1F"/>
                </a:solidFill>
                <a:latin typeface="Arial"/>
              </a:rPr>
              <a:t>10. Технологии проекта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5156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46469"/>
                </a:solidFill>
                <a:latin typeface="Arial"/>
              </a:rPr>
              <a:t>Frontend-first архитектура без backend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554480"/>
            <a:ext cx="5074920" cy="4160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1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55648"/>
            <a:ext cx="4617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D1D1F"/>
                </a:solidFill>
                <a:latin typeface="Arial"/>
              </a:rPr>
              <a:t>Стек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12848"/>
            <a:ext cx="461772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6469"/>
                </a:solidFill>
                <a:latin typeface="Arial"/>
              </a:rPr>
              <a:t>Next.js
React
JavaScript
CSS
localStorage
FileReader API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80760" y="1554480"/>
            <a:ext cx="5440680" cy="4160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1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1755648"/>
            <a:ext cx="4983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D1D1F"/>
                </a:solidFill>
                <a:latin typeface="Arial"/>
              </a:rPr>
              <a:t>Состояние приложения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212848"/>
            <a:ext cx="498348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6469"/>
                </a:solidFill>
                <a:latin typeface="Arial"/>
              </a:rPr>
              <a:t>GarageContext
Автомобиль
История
Топливо
Задачи
Статистика
Изменение данных сразу отражается во всех разделах.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89788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071E3"/>
                </a:solidFill>
                <a:latin typeface="Arial"/>
              </a:rPr>
              <a:t>Основные сценарии работают без регистрации, сервера и базы данных.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473952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46469"/>
                </a:solidFill>
                <a:latin typeface="Arial"/>
              </a:rPr>
              <a:t>AutoScope  •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417320"/>
            <a:ext cx="6858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D1D1F"/>
                </a:solidFill>
                <a:latin typeface="Arial"/>
              </a:rPr>
              <a:t>AutoScope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331720"/>
            <a:ext cx="9784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71E3"/>
                </a:solidFill>
                <a:latin typeface="Arial"/>
              </a:rPr>
              <a:t>От первой заправки до полной цифровой истории автомобиля.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33756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646469"/>
                </a:solidFill>
                <a:latin typeface="Arial"/>
              </a:rPr>
              <a:t>Добавить автомобиль → вести историю → учитывать топливо → планировать задачи → анализировать расходы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4617720"/>
            <a:ext cx="6309360" cy="914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1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154680" y="4818888"/>
            <a:ext cx="5852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D1D1F"/>
                </a:solidFill>
                <a:latin typeface="Arial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54680" y="5276088"/>
            <a:ext cx="5852160" cy="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6469"/>
                </a:solidFill>
                <a:latin typeface="Arial"/>
              </a:rPr>
              <a:t>Простой интерфейс • единое состояние • локальное хранение данных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0" y="6473952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46469"/>
                </a:solidFill>
                <a:latin typeface="Arial"/>
              </a:rPr>
              <a:t>AutoScope  • 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